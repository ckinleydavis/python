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474720"/>
            <a:ext cx="2286000" cy="1668780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[Client Name]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217627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Recommendations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2999232"/>
            <a:ext cx="3200400" cy="36576"/>
          </a:xfrm>
          <a:prstGeom prst="rect">
            <a:avLst/>
          </a:prstGeom>
          <a:solidFill>
            <a:srgbClr val="8FA4B8"/>
          </a:solidFill>
          <a:ln w="12700">
            <a:solidFill>
              <a:srgbClr val="8FA4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00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[Analyst Name]  |  [Date]  |  Confidential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0372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Analytics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3931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 Making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09728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2880" y="26517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walkthrough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our analysis and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457200"/>
            <a:ext cx="55778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37560" y="585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977640" y="5486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77640" y="8412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findings at a glance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457200"/>
            <a:ext cx="54864" cy="749808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335024"/>
            <a:ext cx="55778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977640" y="14264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77640" y="17190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scope, and methodology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335024"/>
            <a:ext cx="54864" cy="749808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2212848"/>
            <a:ext cx="55778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37560" y="2340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977640" y="23042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977640" y="2596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212848"/>
            <a:ext cx="54864" cy="749808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3090672"/>
            <a:ext cx="55778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37560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977640" y="31821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Analysis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977640" y="34747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significance &amp; drivers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3090672"/>
            <a:ext cx="54864" cy="749808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3968496"/>
            <a:ext cx="55778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33756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977640" y="4059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977640" y="43525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next steps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0" y="3968496"/>
            <a:ext cx="54864" cy="749808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at a Glance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Python analysis of [dataset] identified significant patterns across [X] variables. All findings are statistically significant at the 95% confidence level.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920240" cy="1554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8288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R-Squared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1920240" cy="9144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78608" y="1737360"/>
            <a:ext cx="1920240" cy="1554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70048" y="18288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$XX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670048" y="24231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Revenue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70048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transaction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78608" y="1737360"/>
            <a:ext cx="1920240" cy="91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0016" y="1737360"/>
            <a:ext cx="1920240" cy="1554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91456" y="18288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 K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791456" y="24231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Analyzed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91456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0016" y="1737360"/>
            <a:ext cx="1920240" cy="914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21424" y="1737360"/>
            <a:ext cx="1920240" cy="1554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12864" y="18288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of X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912864" y="24231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 Significant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12864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&lt; 0.05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21424" y="1737360"/>
            <a:ext cx="1920240" cy="91440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429000"/>
            <a:ext cx="82296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429000"/>
            <a:ext cx="54864" cy="1463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5478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" y="3840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[Summarize the single most important finding from the analysis in 1-2 sentences. This should be the headline your client remembers after leaving the room.]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Scope &amp; Methodology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14600" y="1143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[Source name / system]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35608"/>
            <a:ext cx="5486400" cy="18288"/>
          </a:xfrm>
          <a:prstGeom prst="rect">
            <a:avLst/>
          </a:prstGeom>
          <a:solidFill>
            <a:srgbClr val="EBF0F5"/>
          </a:solidFill>
          <a:ln w="12700">
            <a:solidFill>
              <a:srgbClr val="EBF0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37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14600" y="17373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[Start date] — [End date]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29968"/>
            <a:ext cx="5486400" cy="18288"/>
          </a:xfrm>
          <a:prstGeom prst="rect">
            <a:avLst/>
          </a:prstGeom>
          <a:solidFill>
            <a:srgbClr val="EBF0F5"/>
          </a:solidFill>
          <a:ln w="12700">
            <a:solidFill>
              <a:srgbClr val="EBF0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31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2331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[XXX,XXX] rows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24328"/>
            <a:ext cx="5486400" cy="18288"/>
          </a:xfrm>
          <a:prstGeom prst="rect">
            <a:avLst/>
          </a:prstGeom>
          <a:solidFill>
            <a:srgbClr val="EBF0F5"/>
          </a:solidFill>
          <a:ln w="12700">
            <a:solidFill>
              <a:srgbClr val="EBF0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26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14600" y="2926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[XXX,XXX] rows ([XX]% retained)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18688"/>
            <a:ext cx="5486400" cy="18288"/>
          </a:xfrm>
          <a:prstGeom prst="rect">
            <a:avLst/>
          </a:prstGeom>
          <a:solidFill>
            <a:srgbClr val="EBF0F5"/>
          </a:solidFill>
          <a:ln w="12700">
            <a:solidFill>
              <a:srgbClr val="EBF0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20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Variables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14600" y="35204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[List primary features used]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13048"/>
            <a:ext cx="5486400" cy="18288"/>
          </a:xfrm>
          <a:prstGeom prst="rect">
            <a:avLst/>
          </a:prstGeom>
          <a:solidFill>
            <a:srgbClr val="EBF0F5"/>
          </a:solidFill>
          <a:ln w="12700">
            <a:solidFill>
              <a:srgbClr val="EBF0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14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14600" y="4114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[Dependent variable]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1051560"/>
            <a:ext cx="246888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0" y="1188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46520" y="1581912"/>
            <a:ext cx="256032" cy="256032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1581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84848" y="16093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56248" y="1847088"/>
            <a:ext cx="36576" cy="402336"/>
          </a:xfrm>
          <a:prstGeom prst="rect">
            <a:avLst/>
          </a:prstGeom>
          <a:solidFill>
            <a:srgbClr val="8FA4B8"/>
          </a:solidFill>
          <a:ln w="12700">
            <a:solidFill>
              <a:srgbClr val="8FA4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46520" y="2221992"/>
            <a:ext cx="256032" cy="256032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22219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84848" y="22494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Validation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56248" y="2487168"/>
            <a:ext cx="36576" cy="402336"/>
          </a:xfrm>
          <a:prstGeom prst="rect">
            <a:avLst/>
          </a:prstGeom>
          <a:solidFill>
            <a:srgbClr val="8FA4B8"/>
          </a:solidFill>
          <a:ln w="12700">
            <a:solidFill>
              <a:srgbClr val="8FA4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46520" y="2862072"/>
            <a:ext cx="256032" cy="256032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2862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84848" y="28895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56248" y="3127248"/>
            <a:ext cx="36576" cy="402336"/>
          </a:xfrm>
          <a:prstGeom prst="rect">
            <a:avLst/>
          </a:prstGeom>
          <a:solidFill>
            <a:srgbClr val="8FA4B8"/>
          </a:solidFill>
          <a:ln w="12700">
            <a:solidFill>
              <a:srgbClr val="8FA4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46520" y="3502152"/>
            <a:ext cx="256032" cy="256032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3502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84848" y="35295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Modeling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556248" y="3767328"/>
            <a:ext cx="36576" cy="402336"/>
          </a:xfrm>
          <a:prstGeom prst="rect">
            <a:avLst/>
          </a:prstGeom>
          <a:solidFill>
            <a:srgbClr val="8FA4B8"/>
          </a:solidFill>
          <a:ln w="12700">
            <a:solidFill>
              <a:srgbClr val="8FA4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46520" y="4142232"/>
            <a:ext cx="256032" cy="256032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46520" y="4142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84848" y="41696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[Finding Title — State the Insight, Not the Variable]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3035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5303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B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Chart Here 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F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Title — Units / Period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0" y="1097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0" y="1353312"/>
            <a:ext cx="28346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0" y="1353312"/>
            <a:ext cx="54864" cy="128016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417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72200" y="16916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 clear sentence stating what this chart proves and why it matters to the client.]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2743200"/>
            <a:ext cx="2834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0" y="2743200"/>
            <a:ext cx="54864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28072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30815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should the client do differently because of this finding?]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3767328"/>
            <a:ext cx="28346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0" y="3767328"/>
            <a:ext cx="54864" cy="8229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38313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Stat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41056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number that supports the finding, e.g. XX% higher revenue]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[Finding Title — Comparative Analysis]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B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Chart A ]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8587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F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[Chart title — metric / timeframe]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09728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B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Chart B ]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0" y="38587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F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[Chart title — metric / timeframe]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2793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11680" y="427939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[Summarize what comparing these two charts reveals about the business. Focus on the delta, the trend, or the contrast between the two views.]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[Finding Title — Geographic or Segmentation Insight]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3035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5303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B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Map / Geographic Visualization ]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0" y="1097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LOCATIONS / SEGMENTS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0" y="1417320"/>
            <a:ext cx="28346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35040" y="149047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1490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[Location / Segment A]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17647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$XX avg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1417320"/>
            <a:ext cx="54864" cy="685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2240280"/>
            <a:ext cx="28346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231343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23134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[Location / Segment B]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2587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$XX avg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2240280"/>
            <a:ext cx="54864" cy="68580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3063240"/>
            <a:ext cx="28346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5040" y="313639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83680" y="31363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[Location / Segment C]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34107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$XX avg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0" y="3063240"/>
            <a:ext cx="54864" cy="6858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3931920"/>
            <a:ext cx="28346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0" y="3931920"/>
            <a:ext cx="54864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40050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Implication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72200" y="42793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does the geographic concentration mean? Where should resources be focused?]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Statistically Drives [Dependent Variable]?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15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Summary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11155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XX%   |   N = XXX,XXX observations   |   All significant variables: p-value &lt; 0.05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792224"/>
            <a:ext cx="237744" cy="23774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7739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trip_miles / [Distance]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49040" y="1773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+$X.XX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7739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Significant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9360" y="177393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additional unit of distance adds $X.XX to revenue.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8229600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DC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2322576"/>
            <a:ext cx="237744" cy="23774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3042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trip_seconds / [Duration]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49040" y="23042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+$X.XX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3042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Significant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23042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trips cost more — time is directly metered.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724912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2852928"/>
            <a:ext cx="237744" cy="23774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2834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Payment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49040" y="28346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+$X.XX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2834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Significant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2834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trips generate significantly higher revenue and tips.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255264"/>
            <a:ext cx="8229600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DC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383280"/>
            <a:ext cx="237744" cy="23774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33649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/ [Seasonality]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49040" y="33649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+$X.XX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Significant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33649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increases as the year progresses — seasonal demand effect.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3785616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" y="3913632"/>
            <a:ext cx="237744" cy="237744"/>
          </a:xfrm>
          <a:prstGeom prst="ellipse">
            <a:avLst/>
          </a:prstGeom>
          <a:solidFill>
            <a:srgbClr val="8FA4B8"/>
          </a:solidFill>
          <a:ln w="12700">
            <a:solidFill>
              <a:srgbClr val="8FA4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38953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/ [Time of Day]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749040" y="38953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+$X.XX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46320" y="38953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Not Significant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09360" y="389534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 after controlling for other variables.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4315968"/>
            <a:ext cx="8229600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DC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4360" y="4443984"/>
            <a:ext cx="237744" cy="23774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" y="44256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day_of_week / [Day]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749040" y="44256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+$X.XX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846320" y="44256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Significant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09360" y="442569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days yield modestly higher revenue.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Next Steps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188720" cy="1188720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8562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828800" y="11612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[Highest Priority Action]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828800" y="149047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[Describe the specific action, why it matters, and what outcome to expect. Tie directly to a finding.]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95160" y="1463040"/>
            <a:ext cx="1508760" cy="320040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95160" y="14630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377440"/>
            <a:ext cx="1188720" cy="118872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68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7200" y="31821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828800" y="24871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[Second Priority Action]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828800" y="281635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[Describe the specific action, why it matters, and what outcome to expect. Tie directly to a finding.]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95160" y="2788920"/>
            <a:ext cx="1508760" cy="32004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95160" y="27889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Impact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703320"/>
            <a:ext cx="82296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703320"/>
            <a:ext cx="1188720" cy="1188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94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57200" y="45079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828800" y="381304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[Strategic Initiative]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828800" y="414223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[Describe the longer-term initiative. This may require more resources or coordination across teams.]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95160" y="4114800"/>
            <a:ext cx="1508760" cy="320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5160" y="41148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3840480"/>
            <a:ext cx="8823960" cy="1303020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315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200400" cy="36576"/>
          </a:xfrm>
          <a:prstGeom prst="rect">
            <a:avLst/>
          </a:prstGeom>
          <a:solidFill>
            <a:srgbClr val="8FA4B8"/>
          </a:solidFill>
          <a:ln w="12700">
            <a:solidFill>
              <a:srgbClr val="8FA4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688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[Analyst Name]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[Title / Role]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 Address]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findings are based on statistical analysis of [dataset]. Results are significant at the 95% confidence level.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462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Authorized Recipients Only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Analytics — Client Presentation Template</dc:title>
  <dc:subject>PptxGenJS Presentation</dc:subject>
  <dc:creator>PptxGenJS</dc:creator>
  <cp:lastModifiedBy>PptxGenJS</cp:lastModifiedBy>
  <cp:revision>1</cp:revision>
  <dcterms:created xsi:type="dcterms:W3CDTF">2026-05-06T15:43:38Z</dcterms:created>
  <dcterms:modified xsi:type="dcterms:W3CDTF">2026-05-06T15:43:38Z</dcterms:modified>
</cp:coreProperties>
</file>